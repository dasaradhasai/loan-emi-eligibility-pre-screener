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4754880" cy="4754880"/>
          </a:xfrm>
          <a:prstGeom prst="ellipse">
            <a:avLst/>
          </a:prstGeom>
          <a:ln w="2794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731520"/>
            <a:ext cx="2377440" cy="237744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22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LoanLens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EMI Eligibility Pre-Screener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41248" y="3611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E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one-second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/ Borderline / Not Eligible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E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verdict for call-centre agents — before any full credit check.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41248" y="5074920"/>
            <a:ext cx="2788920" cy="566928"/>
          </a:xfrm>
          <a:prstGeom prst="roundRect">
            <a:avLst>
              <a:gd name="adj" fmla="val 50000"/>
            </a:avLst>
          </a:prstGeom>
          <a:solidFill>
            <a:srgbClr val="06313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52303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50749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FOIR verdict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858768" y="5074920"/>
            <a:ext cx="2688336" cy="566928"/>
          </a:xfrm>
          <a:prstGeom prst="roundRect">
            <a:avLst>
              <a:gd name="adj" fmla="val 50000"/>
            </a:avLst>
          </a:prstGeom>
          <a:solidFill>
            <a:srgbClr val="06313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523036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07408" y="5074920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counter-offer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775704" y="5074920"/>
            <a:ext cx="3090672" cy="566928"/>
          </a:xfrm>
          <a:prstGeom prst="roundRect">
            <a:avLst>
              <a:gd name="adj" fmla="val 50000"/>
            </a:avLst>
          </a:prstGeom>
          <a:solidFill>
            <a:srgbClr val="06313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523036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24344" y="5074920"/>
            <a:ext cx="2496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· Spring Boot 3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841248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rejected call is wasted time — and lost lending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14300" dist="38100" dir="5400000">
              <a:srgbClr val="0A2B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60604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F1F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84378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6576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answers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88720" y="4160520"/>
            <a:ext cx="267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wait on a full credit check just to learn an applicant was never going to qualify.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35424" y="219456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14300" dist="38100" dir="5400000">
              <a:srgbClr val="0A2B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01184" y="260604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F1F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84378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01184" y="36576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Blunt rejections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901184" y="4160520"/>
            <a:ext cx="267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“no” ends the call — no guidance on what the customer could actually get.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47888" y="219456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14300" dist="38100" dir="5400000">
              <a:srgbClr val="0A2B3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13648" y="260604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F1F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2" y="2843784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13648" y="36576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Error-prone maths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613648" y="4160520"/>
            <a:ext cx="267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EMI &amp; FOIR sums risk integer/rounding slips and inconsistent interest slabs.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 </a:t>
            </a:r>
            <a:pPr indent="0" marL="0">
              <a:buNone/>
            </a:pPr>
            <a:r>
              <a:rPr lang="en-US" sz="1500" i="1" dirty="0">
                <a:solidFill>
                  <a:srgbClr val="0F2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agents an instant, consistent verdict — and a way to turn a “no” into a yes.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993392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LoanLens screens an applicant in one second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989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income, existing EMIs, loan amount, rate and tenure. LoanLens computes the proposed EMI, applies the FOIR rule, and returns a verdict plus a one-line reason the agent can read aloud.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0873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3977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verdict from five simple inputs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4581144"/>
            <a:ext cx="457200" cy="45720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69087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45811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Reducing-balance EMI, added to existing obligations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2960" y="5184648"/>
            <a:ext cx="457200" cy="45720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29437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51846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 cases flagged for review, not rejected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22960" y="5788152"/>
            <a:ext cx="457200" cy="45720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89788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57881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 code the agent reads to the customer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7269480" y="1051560"/>
            <a:ext cx="4069080" cy="5074920"/>
          </a:xfrm>
          <a:prstGeom prst="roundRect">
            <a:avLst>
              <a:gd name="adj" fmla="val 2697"/>
            </a:avLst>
          </a:prstGeom>
          <a:solidFill>
            <a:srgbClr val="04262B"/>
          </a:solidFill>
          <a:ln/>
          <a:effectLst>
            <a:outerShdw sx="100000" sy="100000" kx="0" ky="0" algn="bl" rotWithShape="0" blurRad="114300" dist="38100" dir="5400000">
              <a:srgbClr val="0A2B30">
                <a:alpha val="16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7635240" y="1371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RESULT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635240" y="178308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94767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83880" y="1783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ELIGIBLE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7635240" y="26974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pPr indent="0" marL="0">
              <a:buNone/>
            </a:pPr>
            <a:r>
              <a:rPr lang="en-US" sz="1600" dirty="0">
                <a:solidFill>
                  <a:srgbClr val="9FCB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FOIR</a:t>
            </a:r>
            <a:endParaRPr lang="en-US" sz="4600" dirty="0"/>
          </a:p>
        </p:txBody>
      </p:sp>
      <p:sp>
        <p:nvSpPr>
          <p:cNvPr id="24" name="Text 17"/>
          <p:cNvSpPr/>
          <p:nvPr/>
        </p:nvSpPr>
        <p:spPr>
          <a:xfrm>
            <a:off x="76352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EMI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28116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18,240 / mo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63524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EMIs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9281160" y="4160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9,500 / mo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635240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281160" y="4617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ELIG_FOIR_OK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7635240" y="5166360"/>
            <a:ext cx="3337560" cy="0"/>
          </a:xfrm>
          <a:prstGeom prst="line">
            <a:avLst/>
          </a:prstGeom>
          <a:noFill/>
          <a:ln w="12700">
            <a:solidFill>
              <a:srgbClr val="1C4A5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635240" y="5303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DC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qualify at 42% FOIR — well within policy.”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993392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 at the core: FOIR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43032" cy="1371600"/>
          </a:xfrm>
          <a:prstGeom prst="roundRect">
            <a:avLst>
              <a:gd name="adj" fmla="val 6667"/>
            </a:avLst>
          </a:prstGeom>
          <a:solidFill>
            <a:srgbClr val="0631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6596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FOIR</a:t>
            </a:r>
            <a:pPr indent="0" marL="0">
              <a:buNone/>
            </a:pPr>
            <a:r>
              <a:rPr lang="en-US" sz="2600" dirty="0">
                <a:solidFill>
                  <a:srgbClr val="9FCB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existing EMIs + new EMI )</a:t>
            </a:r>
            <a:pPr indent="0" marL="0">
              <a:buNone/>
            </a:pPr>
            <a:r>
              <a:rPr lang="en-US" sz="2600" dirty="0">
                <a:solidFill>
                  <a:srgbClr val="9FCB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÷  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income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3401568" cy="2331720"/>
          </a:xfrm>
          <a:prstGeom prst="roundRect">
            <a:avLst>
              <a:gd name="adj" fmla="val 3922"/>
            </a:avLst>
          </a:prstGeom>
          <a:solidFill>
            <a:srgbClr val="063138"/>
          </a:solidFill>
          <a:ln w="12700">
            <a:solidFill>
              <a:srgbClr val="1245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069080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0325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50%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88720" y="47548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Eligible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8720" y="518464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— comfortably within policy.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35424" y="3703320"/>
            <a:ext cx="3401568" cy="2331720"/>
          </a:xfrm>
          <a:prstGeom prst="roundRect">
            <a:avLst>
              <a:gd name="adj" fmla="val 3922"/>
            </a:avLst>
          </a:prstGeom>
          <a:solidFill>
            <a:srgbClr val="063138"/>
          </a:solidFill>
          <a:ln w="12700">
            <a:solidFill>
              <a:srgbClr val="12454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4069080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41264" y="40325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– 55%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901184" y="47548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Borderline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901184" y="518464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for manual review instead of rejecting.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47888" y="3703320"/>
            <a:ext cx="3401568" cy="2331720"/>
          </a:xfrm>
          <a:prstGeom prst="roundRect">
            <a:avLst>
              <a:gd name="adj" fmla="val 3922"/>
            </a:avLst>
          </a:prstGeom>
          <a:solidFill>
            <a:srgbClr val="063138"/>
          </a:solidFill>
          <a:ln w="12700">
            <a:solidFill>
              <a:srgbClr val="12454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4069080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53728" y="4032504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6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55%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8613648" y="47548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eligible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613648" y="518464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— but offer a counter-offer instead.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 and interest slabs live in one config class — change the policy in a single place.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FEATURE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Counter-Offer</a:t>
            </a:r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never just say “no”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applicant fails, LoanLens inverts the EMI/FOIR maths to tell the agent exactly what the customer can get — turning a dead-end call into a sale.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120640" cy="1572768"/>
          </a:xfrm>
          <a:prstGeom prst="roundRect">
            <a:avLst>
              <a:gd name="adj" fmla="val 5814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14300" dist="38100" dir="5400000">
              <a:srgbClr val="0A2B3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326440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341985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3044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 loan they qualify for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965960" y="350215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same rate and tenure — the biggest amount that still fits within policy.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45352" y="2788920"/>
            <a:ext cx="5120640" cy="1572768"/>
          </a:xfrm>
          <a:prstGeom prst="roundRect">
            <a:avLst>
              <a:gd name="adj" fmla="val 5814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14300" dist="38100" dir="5400000">
              <a:srgbClr val="0A2B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65392" y="326440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1985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88352" y="3044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to reach their ask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88352" y="350215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term needed to still lend the amount they originally requested.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" y="4636008"/>
            <a:ext cx="5120640" cy="1572768"/>
          </a:xfrm>
          <a:prstGeom prst="roundRect">
            <a:avLst>
              <a:gd name="adj" fmla="val 5814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14300" dist="38100" dir="5400000">
              <a:srgbClr val="0A2B3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143000" y="511149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526694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what-if sliders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965960" y="5349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loan amount &amp; tenure and watch the FOIR dial move — live, on the call.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45352" y="4636008"/>
            <a:ext cx="5120640" cy="1572768"/>
          </a:xfrm>
          <a:prstGeom prst="roundRect">
            <a:avLst>
              <a:gd name="adj" fmla="val 5814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14300" dist="38100" dir="5400000">
              <a:srgbClr val="0A2B3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65392" y="511149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5266944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88352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Headroom upsell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388352" y="53492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 already-eligible applicant, show how much more they could borrow.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applies either counter-offer and re-screens.  </a:t>
            </a:r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 lives in Advisor.java — unit-tested.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products &amp; track every screening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14300" dist="38100" dir="5400000">
              <a:srgbClr val="0A2B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24688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670048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94560" y="25146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Multi-product comparison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80160" y="352044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screens the applicant against every loan product at once, sorted best-first — so the agent instantly sees which loans they qualify for.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280160" y="4617720"/>
            <a:ext cx="43434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F1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3040" y="4617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Loan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80560" y="4754880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4617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280160" y="5056632"/>
            <a:ext cx="43434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F1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5056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Top-up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80560" y="519379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50566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280160" y="5495544"/>
            <a:ext cx="43434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F1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63040" y="54955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C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Loan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480560" y="5632704"/>
            <a:ext cx="118872" cy="118872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54955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09360" y="2057400"/>
            <a:ext cx="5056632" cy="3977640"/>
          </a:xfrm>
          <a:prstGeom prst="roundRect">
            <a:avLst>
              <a:gd name="adj" fmla="val 2299"/>
            </a:avLst>
          </a:prstGeom>
          <a:solidFill>
            <a:srgbClr val="04262B"/>
          </a:solidFill>
          <a:ln/>
          <a:effectLst>
            <a:outerShdw sx="100000" sy="100000" kx="0" ky="0" algn="bl" rotWithShape="0" blurRad="114300" dist="38100" dir="5400000">
              <a:srgbClr val="0A2B30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20840" y="24688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670048"/>
            <a:ext cx="374904" cy="37490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680960" y="251460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dashboard  ·  /history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6766560" y="342900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screening is saved per agent.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766560" y="3886200"/>
            <a:ext cx="1933956" cy="804672"/>
          </a:xfrm>
          <a:prstGeom prst="roundRect">
            <a:avLst>
              <a:gd name="adj" fmla="val 9091"/>
            </a:avLst>
          </a:prstGeom>
          <a:solidFill>
            <a:srgbClr val="063138"/>
          </a:solidFill>
          <a:ln/>
        </p:spPr>
      </p:sp>
      <p:sp>
        <p:nvSpPr>
          <p:cNvPr id="28" name="Text 24"/>
          <p:cNvSpPr/>
          <p:nvPr/>
        </p:nvSpPr>
        <p:spPr>
          <a:xfrm>
            <a:off x="6995160" y="3959352"/>
            <a:ext cx="156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1,284</a:t>
            </a:r>
            <a:endParaRPr lang="en-US" sz="2500" dirty="0"/>
          </a:p>
        </p:txBody>
      </p:sp>
      <p:sp>
        <p:nvSpPr>
          <p:cNvPr id="29" name="Text 25"/>
          <p:cNvSpPr/>
          <p:nvPr/>
        </p:nvSpPr>
        <p:spPr>
          <a:xfrm>
            <a:off x="6995160" y="4379976"/>
            <a:ext cx="1568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screened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974836" y="3886200"/>
            <a:ext cx="1933956" cy="804672"/>
          </a:xfrm>
          <a:prstGeom prst="roundRect">
            <a:avLst>
              <a:gd name="adj" fmla="val 9091"/>
            </a:avLst>
          </a:prstGeom>
          <a:solidFill>
            <a:srgbClr val="063138"/>
          </a:solidFill>
          <a:ln/>
        </p:spPr>
      </p:sp>
      <p:sp>
        <p:nvSpPr>
          <p:cNvPr id="31" name="Text 27"/>
          <p:cNvSpPr/>
          <p:nvPr/>
        </p:nvSpPr>
        <p:spPr>
          <a:xfrm>
            <a:off x="9203436" y="3959352"/>
            <a:ext cx="156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2500" dirty="0"/>
          </a:p>
        </p:txBody>
      </p:sp>
      <p:sp>
        <p:nvSpPr>
          <p:cNvPr id="32" name="Text 28"/>
          <p:cNvSpPr/>
          <p:nvPr/>
        </p:nvSpPr>
        <p:spPr>
          <a:xfrm>
            <a:off x="9203436" y="4379976"/>
            <a:ext cx="1568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rate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766560" y="4818888"/>
            <a:ext cx="1933956" cy="804672"/>
          </a:xfrm>
          <a:prstGeom prst="roundRect">
            <a:avLst>
              <a:gd name="adj" fmla="val 9091"/>
            </a:avLst>
          </a:prstGeom>
          <a:solidFill>
            <a:srgbClr val="063138"/>
          </a:solidFill>
          <a:ln/>
        </p:spPr>
      </p:sp>
      <p:sp>
        <p:nvSpPr>
          <p:cNvPr id="34" name="Text 30"/>
          <p:cNvSpPr/>
          <p:nvPr/>
        </p:nvSpPr>
        <p:spPr>
          <a:xfrm>
            <a:off x="6995160" y="4892040"/>
            <a:ext cx="156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2500" dirty="0"/>
          </a:p>
        </p:txBody>
      </p:sp>
      <p:sp>
        <p:nvSpPr>
          <p:cNvPr id="35" name="Text 31"/>
          <p:cNvSpPr/>
          <p:nvPr/>
        </p:nvSpPr>
        <p:spPr>
          <a:xfrm>
            <a:off x="6995160" y="5312664"/>
            <a:ext cx="1568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FOIR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8974836" y="4818888"/>
            <a:ext cx="1933956" cy="804672"/>
          </a:xfrm>
          <a:prstGeom prst="roundRect">
            <a:avLst>
              <a:gd name="adj" fmla="val 9091"/>
            </a:avLst>
          </a:prstGeom>
          <a:solidFill>
            <a:srgbClr val="063138"/>
          </a:solidFill>
          <a:ln/>
        </p:spPr>
      </p:sp>
      <p:sp>
        <p:nvSpPr>
          <p:cNvPr id="37" name="Text 33"/>
          <p:cNvSpPr/>
          <p:nvPr/>
        </p:nvSpPr>
        <p:spPr>
          <a:xfrm>
            <a:off x="9203436" y="4892040"/>
            <a:ext cx="156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500" dirty="0"/>
          </a:p>
        </p:txBody>
      </p:sp>
      <p:sp>
        <p:nvSpPr>
          <p:cNvPr id="38" name="Text 34"/>
          <p:cNvSpPr/>
          <p:nvPr/>
        </p:nvSpPr>
        <p:spPr>
          <a:xfrm>
            <a:off x="9203436" y="5312664"/>
            <a:ext cx="1568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bands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249424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clean, tested, and configurable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1175004" cy="457200"/>
          </a:xfrm>
          <a:prstGeom prst="roundRect">
            <a:avLst>
              <a:gd name="adj" fmla="val 50000"/>
            </a:avLst>
          </a:prstGeom>
          <a:solidFill>
            <a:srgbClr val="F1F7F7"/>
          </a:solidFill>
          <a:ln w="12700">
            <a:solidFill>
              <a:srgbClr val="E7F1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80844" y="2240280"/>
            <a:ext cx="1751076" cy="457200"/>
          </a:xfrm>
          <a:prstGeom prst="roundRect">
            <a:avLst>
              <a:gd name="adj" fmla="val 50000"/>
            </a:avLst>
          </a:prstGeom>
          <a:solidFill>
            <a:srgbClr val="F1F7F7"/>
          </a:solidFill>
          <a:ln w="12700">
            <a:solidFill>
              <a:srgbClr val="E7F1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80844" y="2240280"/>
            <a:ext cx="1751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224028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F1F7F7"/>
          </a:solidFill>
          <a:ln w="12700">
            <a:solidFill>
              <a:srgbClr val="E7F1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+ H2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20840" y="2240280"/>
            <a:ext cx="982980" cy="457200"/>
          </a:xfrm>
          <a:prstGeom prst="roundRect">
            <a:avLst>
              <a:gd name="adj" fmla="val 50000"/>
            </a:avLst>
          </a:prstGeom>
          <a:solidFill>
            <a:srgbClr val="F1F7F7"/>
          </a:solidFill>
          <a:ln w="12700">
            <a:solidFill>
              <a:srgbClr val="E7F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24028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86700" y="2240280"/>
            <a:ext cx="2327148" cy="457200"/>
          </a:xfrm>
          <a:prstGeom prst="roundRect">
            <a:avLst>
              <a:gd name="adj" fmla="val 50000"/>
            </a:avLst>
          </a:prstGeom>
          <a:solidFill>
            <a:srgbClr val="F1F7F7"/>
          </a:solidFill>
          <a:ln w="12700">
            <a:solidFill>
              <a:srgbClr val="E7F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6700" y="2240280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HTML/CSS/JS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WATCH-OUTS FROM THE BRIEF — HANDLED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38328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1F7F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36576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3776472"/>
            <a:ext cx="26517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783080" y="35295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loss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783080" y="38587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maths in double; FOIR rounded only for display, never truncated.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45352" y="338328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1F7F7"/>
          </a:solidFill>
          <a:ln/>
        </p:spPr>
      </p:sp>
      <p:sp>
        <p:nvSpPr>
          <p:cNvPr id="23" name="Shape 20"/>
          <p:cNvSpPr/>
          <p:nvPr/>
        </p:nvSpPr>
        <p:spPr>
          <a:xfrm>
            <a:off x="6519672" y="36576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3776472"/>
            <a:ext cx="265176" cy="26517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05472" y="35295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Rounding mode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205472" y="38587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Money.round2 uses BigDecimal + RoundingMode (HALF_EVEN).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22960" y="466344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1F7F7"/>
          </a:solidFill>
          <a:ln/>
        </p:spPr>
      </p:sp>
      <p:sp>
        <p:nvSpPr>
          <p:cNvPr id="28" name="Shape 24"/>
          <p:cNvSpPr/>
          <p:nvPr/>
        </p:nvSpPr>
        <p:spPr>
          <a:xfrm>
            <a:off x="1097280" y="49377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5056632"/>
            <a:ext cx="265176" cy="26517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783080" y="48097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inputs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1783080" y="51389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validate() guards every field against zero / negative before arithmetic.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245352" y="466344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1F7F7"/>
          </a:solidFill>
          <a:ln/>
        </p:spPr>
      </p:sp>
      <p:sp>
        <p:nvSpPr>
          <p:cNvPr id="33" name="Shape 28"/>
          <p:cNvSpPr/>
          <p:nvPr/>
        </p:nvSpPr>
        <p:spPr>
          <a:xfrm>
            <a:off x="6519672" y="49377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5056632"/>
            <a:ext cx="265176" cy="26517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205472" y="48097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Hard-coded slabs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7205472" y="51389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TariffConfig centralises all rates &amp; thresholds — one edit updates all.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822960" y="5989320"/>
            <a:ext cx="10543032" cy="566928"/>
          </a:xfrm>
          <a:prstGeom prst="roundRect">
            <a:avLst>
              <a:gd name="adj" fmla="val 16129"/>
            </a:avLst>
          </a:prstGeom>
          <a:solidFill>
            <a:srgbClr val="04262B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6135624"/>
            <a:ext cx="274320" cy="2743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463040" y="59893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JUnit tests</a:t>
            </a:r>
            <a:pPr indent="0" marL="0">
              <a:buNone/>
            </a:pPr>
            <a:r>
              <a:rPr lang="en-US" sz="1350" dirty="0">
                <a:solidFill>
                  <a:srgbClr val="DC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covering the FOIR engine and the counter-offer solver  ·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ln w="2540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1280160"/>
            <a:ext cx="3108960" cy="310896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4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calls. Fewer rejections. More approved loans.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063138"/>
          </a:solidFill>
          <a:ln w="12700">
            <a:solidFill>
              <a:srgbClr val="1245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36118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37673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438912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1-second verdict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8720" y="48006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get an answer before any credit check.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35424" y="324612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063138"/>
          </a:solidFill>
          <a:ln w="12700">
            <a:solidFill>
              <a:srgbClr val="1245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01184" y="36118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37673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01184" y="438912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Turns “no” into yes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901184" y="48006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rejection returns a real counter-offer.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47888" y="3246120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063138"/>
          </a:solidFill>
          <a:ln w="12700">
            <a:solidFill>
              <a:srgbClr val="12454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13648" y="36118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37673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13648" y="438912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&amp; tested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613648" y="480060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FOIR engine, 24 tests, config in one place.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LoanLens</a:t>
            </a:r>
            <a:pPr indent="0" marL="0">
              <a:buNone/>
            </a:pPr>
            <a:r>
              <a:rPr lang="en-US" sz="1400" dirty="0">
                <a:solidFill>
                  <a:srgbClr val="9F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Java 21 · Spring Boot 3   ·   run with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spring-boot:run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LoanLens — Loan EMI Eligibility Pre-Screener</dc:title>
  <dc:subject>PptxGenJS Presentation</dc:subject>
  <dc:creator>lucky</dc:creator>
  <cp:lastModifiedBy>lucky</cp:lastModifiedBy>
  <cp:revision>1</cp:revision>
  <dcterms:created xsi:type="dcterms:W3CDTF">2026-07-04T03:53:42Z</dcterms:created>
  <dcterms:modified xsi:type="dcterms:W3CDTF">2026-07-04T03:53:42Z</dcterms:modified>
</cp:coreProperties>
</file>