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2880360"/>
            <a:ext cx="345643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Loan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3E1D9"/>
                </a:solidFill>
                <a:latin typeface="Georgia"/>
              </a:rPr>
              <a:t>Lens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48840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57984"/>
            <a:ext cx="1417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34A2F"/>
                </a:solidFill>
                <a:latin typeface="Arial"/>
              </a:rPr>
              <a:t>PS-01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97480"/>
            <a:ext cx="749807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22211C"/>
                </a:solidFill>
                <a:latin typeface="Georgia"/>
              </a:rPr>
              <a:t>Loan EMI Eligibility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96442"/>
                </a:solidFill>
                <a:latin typeface="Georgia"/>
              </a:rPr>
              <a:t>Pre-Screener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36056"/>
                </a:solidFill>
                <a:latin typeface="Arial"/>
              </a:rPr>
              <a:t>Instant FOIR-based loan pre-eligibility  ·  Banking &amp; 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074920"/>
            <a:ext cx="7315200" cy="10972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230368"/>
            <a:ext cx="7589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9A9688"/>
                </a:solidFill>
                <a:latin typeface="Arial"/>
              </a:rPr>
              <a:t>TEAM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211C"/>
                </a:solidFill>
                <a:latin typeface="Arial"/>
              </a:rPr>
              <a:t>2300030104</a:t>
            </a:r>
            <a:r>
              <a:rPr sz="1500" b="1">
                <a:solidFill>
                  <a:srgbClr val="A34A2F"/>
                </a:solidFill>
                <a:latin typeface="Arial"/>
              </a:rPr>
              <a:t>  (Team Lead)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11C"/>
                </a:solidFill>
                <a:latin typeface="Arial"/>
              </a:rPr>
              <a:t>2300030074      2300031400      2300031646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Agents waste time.</a:t>
            </a:r>
            <a:r>
              <a:rPr sz="1900">
                <a:solidFill>
                  <a:srgbClr val="636056"/>
                </a:solidFill>
                <a:latin typeface="Arial"/>
              </a:rPr>
              <a:t>  10–15 minutes spent on applicants who can never qualify.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It costs everyone.</a:t>
            </a:r>
            <a:r>
              <a:rPr sz="1900">
                <a:solidFill>
                  <a:srgbClr val="636056"/>
                </a:solidFill>
                <a:latin typeface="Arial"/>
              </a:rPr>
              <a:t>  wasted effort for the agent, a frustrating call for the customer.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Banks use one rule.</a:t>
            </a:r>
            <a:r>
              <a:rPr sz="1900">
                <a:solidFill>
                  <a:srgbClr val="636056"/>
                </a:solidFill>
                <a:latin typeface="Arial"/>
              </a:rPr>
              <a:t>  eligibility is decided by the Fixed-Obligation-to-Income-Ratio (FOIR).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The gap.</a:t>
            </a:r>
            <a:r>
              <a:rPr sz="1900">
                <a:solidFill>
                  <a:srgbClr val="636056"/>
                </a:solidFill>
                <a:latin typeface="Arial"/>
              </a:rPr>
              <a:t>  no quick check that runs before a full credit check is triggered.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What is FOIR?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11C"/>
                </a:solidFill>
                <a:latin typeface="Arial"/>
              </a:rPr>
              <a:t>Fixed Obligation to Income Ratio — the share of monthly income already going to loan EMIs.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10515600" cy="777240"/>
          </a:xfrm>
          <a:prstGeom prst="roundRect">
            <a:avLst>
              <a:gd name="adj" fmla="val 12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34A2F"/>
                </a:solidFill>
                <a:latin typeface="Georgia"/>
              </a:rPr>
              <a:t>FOIR  =  (existing EMIs  +  new loan EMI)  ÷  monthly income  ×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2211C"/>
                </a:solidFill>
                <a:latin typeface="Arial"/>
              </a:rPr>
              <a:t>Example:  </a:t>
            </a:r>
            <a:r>
              <a:rPr sz="1600" b="0">
                <a:solidFill>
                  <a:srgbClr val="636056"/>
                </a:solidFill>
                <a:latin typeface="Arial"/>
              </a:rPr>
              <a:t>income ₹1,00,000, EMIs ₹47,000  →  FOIR 47%  →  under 50%  →  Eligible.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33832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526280"/>
            <a:ext cx="128016" cy="73152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44568"/>
            <a:ext cx="3017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8F5B"/>
                </a:solidFill>
                <a:latin typeface="Arial"/>
              </a:rPr>
              <a:t>≤ 50%   Eligible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526280"/>
            <a:ext cx="33832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4526280"/>
            <a:ext cx="128016" cy="731520"/>
          </a:xfrm>
          <a:prstGeom prst="rect">
            <a:avLst/>
          </a:prstGeom>
          <a:solidFill>
            <a:srgbClr val="B1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544568"/>
            <a:ext cx="3017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17722"/>
                </a:solidFill>
                <a:latin typeface="Arial"/>
              </a:rPr>
              <a:t>50–55%   Borderline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526280"/>
            <a:ext cx="33832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4526280"/>
            <a:ext cx="128016" cy="731520"/>
          </a:xfrm>
          <a:prstGeom prst="rect">
            <a:avLst/>
          </a:prstGeom>
          <a:solidFill>
            <a:srgbClr val="BD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544568"/>
            <a:ext cx="3017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D4034"/>
                </a:solidFill>
                <a:latin typeface="Arial"/>
              </a:rPr>
              <a:t>&gt; 55%   Not eligible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Read inputs as double.</a:t>
            </a:r>
            <a:r>
              <a:rPr sz="1700">
                <a:solidFill>
                  <a:srgbClr val="636056"/>
                </a:solidFill>
                <a:latin typeface="Arial"/>
              </a:rPr>
              <a:t>  cast explicitly where needed — every ratio stays exact.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Reduced-balance EMI.</a:t>
            </a:r>
            <a:r>
              <a:rPr sz="1700">
                <a:solidFill>
                  <a:srgbClr val="636056"/>
                </a:solidFill>
                <a:latin typeface="Arial"/>
              </a:rPr>
              <a:t>  the standard bank formula for the new loan's EMI.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FOIR = obligations ÷ income.</a:t>
            </a:r>
            <a:r>
              <a:rPr sz="1700">
                <a:solidFill>
                  <a:srgbClr val="636056"/>
                </a:solidFill>
                <a:latin typeface="Arial"/>
              </a:rPr>
              <a:t>  computed at full precision, rounded only to display.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Verdict by if-else / switch.</a:t>
            </a:r>
            <a:r>
              <a:rPr sz="1700">
                <a:solidFill>
                  <a:srgbClr val="636056"/>
                </a:solidFill>
                <a:latin typeface="Arial"/>
              </a:rPr>
              <a:t>  on the computed FOIR band.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One central rate config.</a:t>
            </a:r>
            <a:r>
              <a:rPr sz="1700">
                <a:solidFill>
                  <a:srgbClr val="636056"/>
                </a:solidFill>
                <a:latin typeface="Arial"/>
              </a:rPr>
              <a:t>  a single edit updates the whole tool — no hard-coded slabs.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Validate before any maths.</a:t>
            </a:r>
            <a:r>
              <a:rPr sz="1700">
                <a:solidFill>
                  <a:srgbClr val="636056"/>
                </a:solidFill>
                <a:latin typeface="Arial"/>
              </a:rPr>
              <a:t>  guard zero / negative inputs so it never crashes.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Our solution: LoanLens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Enter five numbers.</a:t>
            </a:r>
            <a:r>
              <a:rPr sz="1900">
                <a:solidFill>
                  <a:srgbClr val="636056"/>
                </a:solidFill>
                <a:latin typeface="Arial"/>
              </a:rPr>
              <a:t>  income, existing EMIs, loan amount, interest rate, tenure.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Get an instant verdict.</a:t>
            </a:r>
            <a:r>
              <a:rPr sz="1900">
                <a:solidFill>
                  <a:srgbClr val="636056"/>
                </a:solidFill>
                <a:latin typeface="Arial"/>
              </a:rPr>
              <a:t>  Eligible / Borderline / Not-eligible, with a reason to read out.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Turn a “no” into a “yes”.</a:t>
            </a:r>
            <a:r>
              <a:rPr sz="1900">
                <a:solidFill>
                  <a:srgbClr val="636056"/>
                </a:solidFill>
                <a:latin typeface="Arial"/>
              </a:rPr>
              <a:t>  a smart counter-offer shows the largest loan they CAN get.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C96442"/>
                </a:solidFill>
                <a:latin typeface="Arial"/>
              </a:rPr>
              <a:t>–  </a:t>
            </a:r>
            <a:r>
              <a:rPr sz="1900" b="1">
                <a:solidFill>
                  <a:srgbClr val="22211C"/>
                </a:solidFill>
                <a:latin typeface="Arial"/>
              </a:rPr>
              <a:t>It's a real web app.</a:t>
            </a:r>
            <a:r>
              <a:rPr sz="1900">
                <a:solidFill>
                  <a:srgbClr val="636056"/>
                </a:solidFill>
                <a:latin typeface="Arial"/>
              </a:rPr>
              <a:t>  secure login, a live database, a premium interface — full-stack.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2  · 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F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34A2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93392"/>
            <a:ext cx="9692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22211C"/>
                </a:solidFill>
                <a:latin typeface="Arial"/>
              </a:rPr>
              <a:t>Enter the financials   </a:t>
            </a:r>
            <a:r>
              <a:rPr sz="1800" b="0">
                <a:solidFill>
                  <a:srgbClr val="636056"/>
                </a:solidFill>
                <a:latin typeface="Arial"/>
              </a:rPr>
              <a:t>pick a product and the interest rate fills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99232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F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9923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34A2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80944"/>
            <a:ext cx="9692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22211C"/>
                </a:solidFill>
                <a:latin typeface="Arial"/>
              </a:rPr>
              <a:t>Read the verdict   </a:t>
            </a:r>
            <a:r>
              <a:rPr sz="1800" b="0">
                <a:solidFill>
                  <a:srgbClr val="636056"/>
                </a:solidFill>
                <a:latin typeface="Arial"/>
              </a:rPr>
              <a:t>the dial sweeps and colours to the FOIR.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86784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F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86784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34A2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68496"/>
            <a:ext cx="9692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22211C"/>
                </a:solidFill>
                <a:latin typeface="Arial"/>
              </a:rPr>
              <a:t>Make a counter-offer   </a:t>
            </a:r>
            <a:r>
              <a:rPr sz="1800" b="0">
                <a:solidFill>
                  <a:srgbClr val="636056"/>
                </a:solidFill>
                <a:latin typeface="Arial"/>
              </a:rPr>
              <a:t>max loan, or the tenure that qualifies — one click applies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74336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F3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74336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34A2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956048"/>
            <a:ext cx="9692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22211C"/>
                </a:solidFill>
                <a:latin typeface="Arial"/>
              </a:rPr>
              <a:t>Compare &amp; log   </a:t>
            </a:r>
            <a:r>
              <a:rPr sz="1800" b="0">
                <a:solidFill>
                  <a:srgbClr val="636056"/>
                </a:solidFill>
                <a:latin typeface="Arial"/>
              </a:rPr>
              <a:t>screen every product at once; each check saved to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31136"/>
            <a:ext cx="128016" cy="7315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762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2211C"/>
                </a:solidFill>
                <a:latin typeface="Arial"/>
              </a:rPr>
              <a:t>Smart counter-offer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056"/>
                </a:solidFill>
                <a:latin typeface="Arial"/>
              </a:rPr>
              <a:t>turn a “no” into the biggest loan they can 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231136"/>
            <a:ext cx="128016" cy="7315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762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2211C"/>
                </a:solidFill>
                <a:latin typeface="Arial"/>
              </a:rPr>
              <a:t>Animated FOIR dial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056"/>
                </a:solidFill>
                <a:latin typeface="Arial"/>
              </a:rPr>
              <a:t>a live risk gauge: green → amber → 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602736"/>
            <a:ext cx="128016" cy="7315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478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2211C"/>
                </a:solidFill>
                <a:latin typeface="Arial"/>
              </a:rPr>
              <a:t>Live what-if sliders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056"/>
                </a:solidFill>
                <a:latin typeface="Arial"/>
              </a:rPr>
              <a:t>drag loan / tenure, the verdict updates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02736"/>
            <a:ext cx="128016" cy="7315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478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2211C"/>
                </a:solidFill>
                <a:latin typeface="Arial"/>
              </a:rPr>
              <a:t>Multi-product compare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056"/>
                </a:solidFill>
                <a:latin typeface="Arial"/>
              </a:rPr>
              <a:t>screen every loan product at 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5488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974336"/>
            <a:ext cx="128016" cy="7315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194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2211C"/>
                </a:solidFill>
                <a:latin typeface="Arial"/>
              </a:rPr>
              <a:t>Analytics 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056"/>
                </a:solidFill>
                <a:latin typeface="Arial"/>
              </a:rPr>
              <a:t>approval rate, average FOIR, verdict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754880"/>
            <a:ext cx="52120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974336"/>
            <a:ext cx="128016" cy="7315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9194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22211C"/>
                </a:solidFill>
                <a:latin typeface="Arial"/>
              </a:rPr>
              <a:t>Secure &amp; full-stack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056"/>
                </a:solidFill>
                <a:latin typeface="Arial"/>
              </a:rPr>
              <a:t>login, hashed passwords, a live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Core Java topics we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8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28800"/>
          <a:ext cx="1060704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66751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Java topic</a:t>
                      </a:r>
                    </a:p>
                  </a:txBody>
                  <a:tcPr marL="146304" marR="109728" marT="64008" marB="64008" anchor="ctr">
                    <a:solidFill>
                      <a:srgbClr val="C96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Why we used it</a:t>
                      </a:r>
                    </a:p>
                  </a:txBody>
                  <a:tcPr marL="146304" marR="109728" marT="64008" marB="64008" anchor="ctr">
                    <a:solidFill>
                      <a:srgbClr val="C964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Primitive types (double, int)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Exact money &amp; ratio maths — avoids the int-division bug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Type casting + operators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The EMI formula, comparisons, clean formatting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if-else-if ladder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Choose Eligible / Borderline / Not-eligible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switch expression + enum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Type-safe verdict and reason message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records (immutable data)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ScreenInputs, ScreenResult, DTOs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BigDecimal + RoundingMode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Banker's rounding — matches bank systems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Collections &amp; Generics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List&lt;&gt;, Optional&lt;&gt;, repositories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Exception handling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Never crash on bad input or a DB hiccup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JUnit 5 tests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24 tests prove the maths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The engine &amp; the watch-outs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Reducing-balance EMI.</a:t>
            </a:r>
            <a:r>
              <a:rPr sz="1700">
                <a:solidFill>
                  <a:srgbClr val="636056"/>
                </a:solidFill>
                <a:latin typeface="Arial"/>
              </a:rPr>
              <a:t>  the standard bank formula, computed in double for full precision.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Integer-division bug → solved.</a:t>
            </a:r>
            <a:r>
              <a:rPr sz="1700">
                <a:solidFill>
                  <a:srgbClr val="636056"/>
                </a:solidFill>
                <a:latin typeface="Arial"/>
              </a:rPr>
              <a:t>  the ratio is never truncated, only rounded for display.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Rounding mismatch → solved.</a:t>
            </a:r>
            <a:r>
              <a:rPr sz="1700">
                <a:solidFill>
                  <a:srgbClr val="636056"/>
                </a:solidFill>
                <a:latin typeface="Arial"/>
              </a:rPr>
              <a:t>  one BigDecimal helper, banker's rounding by default.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Bad inputs → handled.</a:t>
            </a:r>
            <a:r>
              <a:rPr sz="1700">
                <a:solidFill>
                  <a:srgbClr val="636056"/>
                </a:solidFill>
                <a:latin typeface="Arial"/>
              </a:rPr>
              <a:t>  zero / negative caught before any maths — a clean error, never a crash.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Hard-coded rates → gone.</a:t>
            </a:r>
            <a:r>
              <a:rPr sz="1700">
                <a:solidFill>
                  <a:srgbClr val="636056"/>
                </a:solidFill>
                <a:latin typeface="Arial"/>
              </a:rPr>
              <a:t>  every rate lives in one central config class.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C96442"/>
                </a:solidFill>
                <a:latin typeface="Arial"/>
              </a:rPr>
              <a:t>–  </a:t>
            </a:r>
            <a:r>
              <a:rPr sz="1700" b="1">
                <a:solidFill>
                  <a:srgbClr val="22211C"/>
                </a:solidFill>
                <a:latin typeface="Arial"/>
              </a:rPr>
              <a:t>Proven.</a:t>
            </a:r>
            <a:r>
              <a:rPr sz="1700">
                <a:solidFill>
                  <a:srgbClr val="636056"/>
                </a:solidFill>
                <a:latin typeface="Arial"/>
              </a:rPr>
              <a:t>  24 JUnit tests, exact EMI values and every verdict band.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Architecture &amp; connectors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10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28800"/>
          <a:ext cx="10607039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68580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Connector</a:t>
                      </a:r>
                    </a:p>
                  </a:txBody>
                  <a:tcPr marL="146304" marR="109728" marT="64008" marB="64008" anchor="ctr">
                    <a:solidFill>
                      <a:srgbClr val="C964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connects / does</a:t>
                      </a:r>
                    </a:p>
                  </a:txBody>
                  <a:tcPr marL="146304" marR="109728" marT="64008" marB="64008" anchor="ctr">
                    <a:solidFill>
                      <a:srgbClr val="C964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Spring Boot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Runs the web server, wires the classes together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REST controllers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Expose the Java engine as HTTP APIs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fetch() + JSON (Jackson)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The front-end ↔ back-end bridge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Spring Data JPA + Hibernate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Java objects ↔ database tables (almost no SQL)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H2 + JDBC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The database — users &amp; screenings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Spring Security + BCrypt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Login + safely hashed passwords</a:t>
                      </a:r>
                    </a:p>
                  </a:txBody>
                  <a:tcPr marL="146304" marR="109728" marT="64008" marB="64008" anchor="ctr">
                    <a:solidFill>
                      <a:srgbClr val="F3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11C"/>
                          </a:solidFill>
                          <a:latin typeface="Arial"/>
                        </a:rPr>
                        <a:t>Maven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636056"/>
                          </a:solidFill>
                          <a:latin typeface="Arial"/>
                        </a:rPr>
                        <a:t>Build tool &amp; dependency manager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623560"/>
            <a:ext cx="10607040" cy="566928"/>
          </a:xfrm>
          <a:prstGeom prst="roundRect">
            <a:avLst>
              <a:gd name="adj" fmla="val 12000"/>
            </a:avLst>
          </a:prstGeom>
          <a:solidFill>
            <a:srgbClr val="F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50992"/>
            <a:ext cx="10241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34A2F"/>
                </a:solidFill>
                <a:latin typeface="Arial"/>
              </a:rPr>
              <a:t>Click Screen  →  fetch JSON  →  Controller  →  FoirEngine  →  JPA→H2  →  JSON  →  the dial animates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6442"/>
                </a:solidFill>
                <a:latin typeface="Arial"/>
              </a:rPr>
              <a:t>SPEAKER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2211C"/>
                </a:solidFill>
                <a:latin typeface="Georgia"/>
              </a:rPr>
              <a:t>Tech stack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114300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LoanLens  ·  PS-01  ·  Loan EMI Eligibility Pre-Screener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82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688"/>
                </a:solidFill>
                <a:latin typeface="Arial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C96442"/>
                </a:solidFill>
                <a:latin typeface="Arial"/>
              </a:rPr>
              <a:t>–  </a:t>
            </a:r>
            <a:r>
              <a:rPr sz="1800" b="1">
                <a:solidFill>
                  <a:srgbClr val="22211C"/>
                </a:solidFill>
                <a:latin typeface="Arial"/>
              </a:rPr>
              <a:t>Backend.</a:t>
            </a:r>
            <a:r>
              <a:rPr sz="1800">
                <a:solidFill>
                  <a:srgbClr val="636056"/>
                </a:solidFill>
                <a:latin typeface="Arial"/>
              </a:rPr>
              <a:t>  Java 21 + Spring Boot 3, built with Maven.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C96442"/>
                </a:solidFill>
                <a:latin typeface="Arial"/>
              </a:rPr>
              <a:t>–  </a:t>
            </a:r>
            <a:r>
              <a:rPr sz="1800" b="1">
                <a:solidFill>
                  <a:srgbClr val="22211C"/>
                </a:solidFill>
                <a:latin typeface="Arial"/>
              </a:rPr>
              <a:t>Data &amp; auth.</a:t>
            </a:r>
            <a:r>
              <a:rPr sz="1800">
                <a:solidFill>
                  <a:srgbClr val="636056"/>
                </a:solidFill>
                <a:latin typeface="Arial"/>
              </a:rPr>
              <a:t>  Spring Data JPA + H2 database, Spring Security with BCrypt.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C96442"/>
                </a:solidFill>
                <a:latin typeface="Arial"/>
              </a:rPr>
              <a:t>–  </a:t>
            </a:r>
            <a:r>
              <a:rPr sz="1800" b="1">
                <a:solidFill>
                  <a:srgbClr val="22211C"/>
                </a:solidFill>
                <a:latin typeface="Arial"/>
              </a:rPr>
              <a:t>Front-end.</a:t>
            </a:r>
            <a:r>
              <a:rPr sz="1800">
                <a:solidFill>
                  <a:srgbClr val="636056"/>
                </a:solidFill>
                <a:latin typeface="Arial"/>
              </a:rPr>
              <a:t>  vanilla HTML / CSS / JavaScript — a premium, custom design.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C96442"/>
                </a:solidFill>
                <a:latin typeface="Arial"/>
              </a:rPr>
              <a:t>–  </a:t>
            </a:r>
            <a:r>
              <a:rPr sz="1800" b="1">
                <a:solidFill>
                  <a:srgbClr val="22211C"/>
                </a:solidFill>
                <a:latin typeface="Arial"/>
              </a:rPr>
              <a:t>Quality.</a:t>
            </a:r>
            <a:r>
              <a:rPr sz="1800">
                <a:solidFill>
                  <a:srgbClr val="636056"/>
                </a:solidFill>
                <a:latin typeface="Arial"/>
              </a:rPr>
              <a:t>  24 automated JUnit tests, all passing — zero build errors.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C96442"/>
                </a:solidFill>
                <a:latin typeface="Arial"/>
              </a:rPr>
              <a:t>–  </a:t>
            </a:r>
            <a:r>
              <a:rPr sz="1800" b="1">
                <a:solidFill>
                  <a:srgbClr val="22211C"/>
                </a:solidFill>
                <a:latin typeface="Arial"/>
              </a:rPr>
              <a:t>On GitHub.</a:t>
            </a:r>
            <a:r>
              <a:rPr sz="1800">
                <a:solidFill>
                  <a:srgbClr val="636056"/>
                </a:solidFill>
                <a:latin typeface="Arial"/>
              </a:rPr>
              <a:t>  github.com/DASARADHASAI/loan-emi-eligibility-pre-screener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6442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64592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22211C"/>
                </a:solidFill>
                <a:latin typeface="Georgia"/>
              </a:rPr>
              <a:t>Stop losing time on calls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C96442"/>
                </a:solidFill>
                <a:latin typeface="Georgia"/>
              </a:rPr>
              <a:t>that can't convert.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375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F8F5B"/>
                </a:solidFill>
                <a:latin typeface="Arial"/>
              </a:rPr>
              <a:t>✓   </a:t>
            </a:r>
            <a:r>
              <a:rPr sz="1650">
                <a:solidFill>
                  <a:srgbClr val="22211C"/>
                </a:solidFill>
                <a:latin typeface="Arial"/>
              </a:rPr>
              <a:t>Saves agents' time — an instant, accurate FOIR verdict.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F8F5B"/>
                </a:solidFill>
                <a:latin typeface="Arial"/>
              </a:rPr>
              <a:t>✓   </a:t>
            </a:r>
            <a:r>
              <a:rPr sz="1650">
                <a:solidFill>
                  <a:srgbClr val="22211C"/>
                </a:solidFill>
                <a:latin typeface="Arial"/>
              </a:rPr>
              <a:t>Turns rejections into offers — the smart counter-offer.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F8F5B"/>
                </a:solidFill>
                <a:latin typeface="Arial"/>
              </a:rPr>
              <a:t>✓   </a:t>
            </a:r>
            <a:r>
              <a:rPr sz="1650">
                <a:solidFill>
                  <a:srgbClr val="22211C"/>
                </a:solidFill>
                <a:latin typeface="Arial"/>
              </a:rPr>
              <a:t>Complete, secure, full-stack — built on solid core Java.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F8F5B"/>
                </a:solidFill>
                <a:latin typeface="Arial"/>
              </a:rPr>
              <a:t>✓   </a:t>
            </a:r>
            <a:r>
              <a:rPr sz="1650">
                <a:solidFill>
                  <a:srgbClr val="22211C"/>
                </a:solidFill>
                <a:latin typeface="Arial"/>
              </a:rPr>
              <a:t>Next: an AI explanation for customers, and an admin panel for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623560"/>
            <a:ext cx="4114800" cy="658368"/>
          </a:xfrm>
          <a:prstGeom prst="roundRect">
            <a:avLst>
              <a:gd name="adj" fmla="val 12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41848"/>
            <a:ext cx="4114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Thank you   —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